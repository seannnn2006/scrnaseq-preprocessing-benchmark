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 everyone. Today I'll walk through the aging atlas we built from 3-month and 16-month WT mouse adipose tissue — the focus is our own cell-type annotation, and at the end I'll validate it against PanSci's original labels. This should take about 5 to 10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Starting with motivation. Aging is a central variable in adipose biology, but most single-cell atlases only annotate a single timepoint. We processed 3-month and 16-month WT mice together in one pipeline, 518,332 cells total, so cell populations can be compared directly across age under the same standard. The core question: does our own marker-gene plus differential-expression annotation pipeline agree with PanSci's original labels, cluster by cluster?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dataset covers three adipose tissues — brown, subcutaneous, and visceral — WT genotype only, 3-month plus 16-month, 518,332 cells total. One key design choice: Harmony integration only uses tissue as the batch key, not age, because age is the biological signal we want to observe, not a technical batch effect to remove. Annotation starts with marker-gene scoring, cross-checked with differential expression, and any ambiguous cluster gets further sub-clustering. Finally we cross-tabulate our results against PanSci's own original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six steps run on the same combined 3-month + 16-month WT dataset — one consistent script, not separate runs per age group.</a:t>
            </a:r>
          </a:p>
          <a:p/>
          <a:p>
            <a:r>
              <a:t>Step 1, QC filter: we remove low-quality cells and genes (WT and age filtering is applied here too, before doublet detection — that way we never waste time running Scrublet on cells we'd discard anyway).</a:t>
            </a:r>
          </a:p>
          <a:p/>
          <a:p>
            <a:r>
              <a:t>Step 2, doublet removal: Scrublet runs per mouse (batched by animal ID, not pooled, since doublet rates can differ mouse to mouse).</a:t>
            </a:r>
          </a:p>
          <a:p/>
          <a:p>
            <a:r>
              <a:t>Step 3, normalize + scale: normalization, HVG selection, and scaling all use tissue as the batch key (not age — age is the biological signal we want to keep, not remove).</a:t>
            </a:r>
          </a:p>
          <a:p/>
          <a:p>
            <a:r>
              <a:t>Step 4, PCA + Harmony: PCA down to 50 components, then Harmony integration (same batch key, tissue only, for the same reason — age has to survive this correction so it can still be compared afterward).</a:t>
            </a:r>
          </a:p>
          <a:p/>
          <a:p>
            <a:r>
              <a:t>Step 5, Leiden clustering: we cluster the integrated, batch-corrected embedding.</a:t>
            </a:r>
          </a:p>
          <a:p/>
          <a:p>
            <a:r>
              <a:t>Step 6, cell-type annotation: marker scoring plus differential-expression validation — any cluster without one clean matching signal gets sub-clustered further, which is exactly how the rare types on the next slide were 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final cell-type annotation — 15 cell types across 518,332 cells. Five of them are rare populations that the cluster-level pass couldn't resolve on its own; they only emerged through targeted sub-clustering: Rdh16+ epithelial-like cells, neural cells, mesothelial cells, epididymal cells, and lymphatic endothelial cells — the last two are still marked tentative since their signal is weaker. This UMAP also carries an extra check: instead of using the original HVG space, the embedding was recomputed using only each type's top 50 differentially-expressed marker genes — 608 genes total — and it still separates all 15 types cleanly, showing those markers alone are enough to support this clustering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similarity matrix — the x-axis is PanSci's original labels, the y-axis is our final annotation, and brighter yellow means a higher proportion. The diagonal is very clean, which means our independently-derived annotation largely agrees with PanSci's own labels. 11 out of 15 types exceed 85% concordance with PanSci. The remaining 4 — DCs, skeletal muscle cells, epididymal cells, and lymphatic endothelial cells — are genuinely rare populations that only came out through sub-clustering; the last two are still marked tentative since their signal is weaker. We honestly document that their signal isn't as clean, rather than treating it as an unfinished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summarize in three tiers. Tier one: 7 types match PanSci at 95% or above — T cells, Macrophages, Pericytes, very clean signal. Tier two is 85 to 95%, covering ASPCs, neural cells, mesothelial cells, and adipocytes. Tier three is the genuinely rare, noisier group of 4 — DCs, skeletal muscle cells, and two tentative populations: epididymal cells and lymphatic endothelial cells — all of which only surfaced through extra sub-clustering. They sit at 56 to 80% concordance, but their destination is clearly documented.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talk covered building the aging atlas and validating our cell-type annotation. The next step is to turn this into a poster, a 10-minute presentation combining this report with the July 31 preprocessing-benchmark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— that's the report.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317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6B5E"/>
                </a:solidFill>
                <a:latin typeface="Calibri"/>
              </a:rPr>
              <a:t>CELL-TYPE ANNOTATION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974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A1A1A"/>
                </a:solidFill>
                <a:latin typeface="Calibri"/>
              </a:rPr>
              <a:t>Aging Adipose Atlas: 3-Month + 16-Month</a:t>
            </a:r>
          </a:p>
          <a:p>
            <a:pPr algn="l">
              <a:lnSpc>
                <a:spcPct val="108000"/>
              </a:lnSpc>
            </a:pPr>
            <a:r>
              <a:rPr sz="3000" b="1">
                <a:solidFill>
                  <a:srgbClr val="1A1A1A"/>
                </a:solidFill>
                <a:latin typeface="Calibri"/>
              </a:rPr>
              <a:t>WT Mouse Cell-Type Annotation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776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A4A4A"/>
                </a:solidFill>
                <a:latin typeface="Calibri"/>
              </a:rPr>
              <a:t>Marker-gene + differential-expression annotation on a 518,332-cell combined atlas, validated against PanSci's original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80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A4A4A"/>
                </a:solidFill>
                <a:latin typeface="Calibri"/>
              </a:rPr>
              <a:t>Sean / YY, Chih-Hao Lee · Lab Meeting · August 19,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6B5E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1A1A"/>
                </a:solidFill>
                <a:latin typeface="Calibri"/>
              </a:rPr>
              <a:t>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005840" cy="50800"/>
          </a:xfrm>
          <a:prstGeom prst="rect">
            <a:avLst/>
          </a:prstGeom>
          <a:solidFill>
            <a:srgbClr val="12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2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•  Aging is a key biological variable. </a:t>
            </a:r>
            <a:r>
              <a:rPr sz="1700" b="0">
                <a:solidFill>
                  <a:srgbClr val="4A4A4A"/>
                </a:solidFill>
                <a:latin typeface="Calibri"/>
              </a:rPr>
              <a:t>Adipose tissue composition and cell states change with age, but most single-cell atlases only annotate one timepoint at a time.</a:t>
            </a:r>
          </a:p>
          <a:p>
            <a:pPr>
              <a:lnSpc>
                <a:spcPct val="120000"/>
              </a:lnSpc>
              <a:spcAft>
                <a:spcPts val="22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•  We built one combined atlas spanning both ages. </a:t>
            </a:r>
            <a:r>
              <a:rPr sz="1700" b="0">
                <a:solidFill>
                  <a:srgbClr val="4A4A4A"/>
                </a:solidFill>
                <a:latin typeface="Calibri"/>
              </a:rPr>
              <a:t>3-month and 16-month WT mice, 3 tissues, processed together end-to-end (518,332 cells) so cell populations can be compared directly across age within a single, consistently-processed dataset.</a:t>
            </a:r>
          </a:p>
          <a:p>
            <a:pPr>
              <a:lnSpc>
                <a:spcPct val="120000"/>
              </a:lnSpc>
              <a:spcAft>
                <a:spcPts val="22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•  The real question: </a:t>
            </a:r>
            <a:r>
              <a:rPr sz="1700" b="0">
                <a:solidFill>
                  <a:srgbClr val="4A4A4A"/>
                </a:solidFill>
                <a:latin typeface="Calibri"/>
              </a:rPr>
              <a:t>does an independent marker-gene + differential-expression annotation pipeline agree with PanSci's own cell-type labels, cluster by cluster, across this combined aging dataset?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4A4A4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6B5E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1A1A"/>
                </a:solidFill>
                <a:latin typeface="Calibri"/>
              </a:rPr>
              <a:t>Experimental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005840" cy="50800"/>
          </a:xfrm>
          <a:prstGeom prst="rect">
            <a:avLst/>
          </a:prstGeom>
          <a:solidFill>
            <a:srgbClr val="12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650" b="1">
                <a:solidFill>
                  <a:srgbClr val="1A1A1A"/>
                </a:solidFill>
                <a:latin typeface="Calibri"/>
              </a:rPr>
              <a:t>•  Dataset: </a:t>
            </a:r>
            <a:r>
              <a:rPr sz="1650" b="0">
                <a:solidFill>
                  <a:srgbClr val="4A4A4A"/>
                </a:solidFill>
                <a:latin typeface="Calibri"/>
              </a:rPr>
              <a:t>mouse adipose tissue — BAT, iWAT, gWAT, WT only, 3-month + 16-month, 518,332 cells total (3-month: 297,137 · 16-month: 221,195)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650" b="1">
                <a:solidFill>
                  <a:srgbClr val="1A1A1A"/>
                </a:solidFill>
                <a:latin typeface="Calibri"/>
              </a:rPr>
              <a:t>•  Batch design: </a:t>
            </a:r>
            <a:r>
              <a:rPr sz="1650" b="0">
                <a:solidFill>
                  <a:srgbClr val="4A4A4A"/>
                </a:solidFill>
                <a:latin typeface="Calibri"/>
              </a:rPr>
              <a:t>Harmony integration uses tissue as the only batch key — age is deliberately kept as a biological signal, not removed as a technical batch effect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650" b="1">
                <a:solidFill>
                  <a:srgbClr val="1A1A1A"/>
                </a:solidFill>
                <a:latin typeface="Calibri"/>
              </a:rPr>
              <a:t>•  Annotation strategy: </a:t>
            </a:r>
            <a:r>
              <a:rPr sz="1650" b="0">
                <a:solidFill>
                  <a:srgbClr val="4A4A4A"/>
                </a:solidFill>
                <a:latin typeface="Calibri"/>
              </a:rPr>
              <a:t>marker-gene scoring → Wilcoxon differential-expression cross-check → targeted sub-clustering wherever a cluster's identity was ambiguous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650" b="1">
                <a:solidFill>
                  <a:srgbClr val="1A1A1A"/>
                </a:solidFill>
                <a:latin typeface="Calibri"/>
              </a:rPr>
              <a:t>•  Validation: </a:t>
            </a:r>
            <a:r>
              <a:rPr sz="1650" b="0">
                <a:solidFill>
                  <a:srgbClr val="4A4A4A"/>
                </a:solidFill>
                <a:latin typeface="Calibri"/>
              </a:rPr>
              <a:t>cross-tabulate our final labels against PanSci's own main_cell_type annotation for the same cells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4A4A4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6B5E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1A1A"/>
                </a:solidFill>
                <a:latin typeface="Calibri"/>
              </a:rPr>
              <a:t>Annotation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005840" cy="50800"/>
          </a:xfrm>
          <a:prstGeom prst="rect">
            <a:avLst/>
          </a:prstGeom>
          <a:solidFill>
            <a:srgbClr val="12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3657600" cy="2148840"/>
          </a:xfrm>
          <a:prstGeom prst="roundRect">
            <a:avLst/>
          </a:prstGeom>
          <a:solidFill>
            <a:srgbClr val="F2F3F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3911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26B5E"/>
                </a:solidFill>
                <a:latin typeface="Calibri"/>
              </a:rPr>
              <a:t>1  QC filter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4A4A4A"/>
                </a:solidFill>
                <a:latin typeface="Calibri"/>
              </a:rPr>
              <a:t>Remove low-quality cells/genes; WT + age filtering applied before doublet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83080"/>
            <a:ext cx="3657600" cy="2148840"/>
          </a:xfrm>
          <a:prstGeom prst="roundRect">
            <a:avLst/>
          </a:prstGeom>
          <a:solidFill>
            <a:srgbClr val="F2F3F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03911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26B5E"/>
                </a:solidFill>
                <a:latin typeface="Calibri"/>
              </a:rPr>
              <a:t>2  Doublet removal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651760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4A4A4A"/>
                </a:solidFill>
                <a:latin typeface="Calibri"/>
              </a:rPr>
              <a:t>Scrublet, batched per mouse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783080"/>
            <a:ext cx="3657600" cy="2148840"/>
          </a:xfrm>
          <a:prstGeom prst="roundRect">
            <a:avLst/>
          </a:prstGeom>
          <a:solidFill>
            <a:srgbClr val="F2F3F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03911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26B5E"/>
                </a:solidFill>
                <a:latin typeface="Calibri"/>
              </a:rPr>
              <a:t>3  Normalize +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651760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4A4A4A"/>
                </a:solidFill>
                <a:latin typeface="Calibri"/>
              </a:rPr>
              <a:t>normalize_total, log1p, top variable genes (batch = tissue), z-score scaling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06240"/>
            <a:ext cx="3657600" cy="2148840"/>
          </a:xfrm>
          <a:prstGeom prst="roundRect">
            <a:avLst/>
          </a:prstGeom>
          <a:solidFill>
            <a:srgbClr val="F2F3F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46227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26B5E"/>
                </a:solidFill>
                <a:latin typeface="Calibri"/>
              </a:rPr>
              <a:t>4  PCA + Harmony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74920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4A4A4A"/>
                </a:solidFill>
                <a:latin typeface="Calibri"/>
              </a:rPr>
              <a:t>50 PCs → batch-corrected on tissue only — age preserved as biological signal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206240"/>
            <a:ext cx="3657600" cy="2148840"/>
          </a:xfrm>
          <a:prstGeom prst="roundRect">
            <a:avLst/>
          </a:prstGeom>
          <a:solidFill>
            <a:srgbClr val="F2F3F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446227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26B5E"/>
                </a:solidFill>
                <a:latin typeface="Calibri"/>
              </a:rPr>
              <a:t>5  Leiden clustering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5074920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4A4A4A"/>
                </a:solidFill>
                <a:latin typeface="Calibri"/>
              </a:rPr>
              <a:t>Cluster the integrated, batch-corrected embedding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206240"/>
            <a:ext cx="3657600" cy="2148840"/>
          </a:xfrm>
          <a:prstGeom prst="roundRect">
            <a:avLst/>
          </a:prstGeom>
          <a:solidFill>
            <a:srgbClr val="F2F3F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446227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26B5E"/>
                </a:solidFill>
                <a:latin typeface="Calibri"/>
              </a:rPr>
              <a:t>6  Cell-type annotation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5074920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4A4A4A"/>
                </a:solidFill>
                <a:latin typeface="Calibri"/>
              </a:rPr>
              <a:t>Marker scoring + DE validation + sub-clustering for ambiguous clusters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4A4A4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6B5E"/>
                </a:solidFill>
                <a:latin typeface="Calibr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1A"/>
                </a:solidFill>
                <a:latin typeface="Calibri"/>
              </a:rPr>
              <a:t>Results: Final Cell-Type Annotation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005840" cy="50800"/>
          </a:xfrm>
          <a:prstGeom prst="rect">
            <a:avLst/>
          </a:prstGeom>
          <a:solidFill>
            <a:srgbClr val="12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map_top50marker_celltype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080984240" y="1600200"/>
            <a:ext cx="9768071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44068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•  15 cell types identified </a:t>
            </a:r>
            <a:r>
              <a:rPr sz="1300" b="0">
                <a:solidFill>
                  <a:srgbClr val="4A4A4A"/>
                </a:solidFill>
                <a:latin typeface="Calibri"/>
              </a:rPr>
              <a:t>across 518,332 cells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•  5 new types resolved only through sub-clustering: </a:t>
            </a:r>
            <a:r>
              <a:rPr sz="1300" b="0">
                <a:solidFill>
                  <a:srgbClr val="4A4A4A"/>
                </a:solidFill>
                <a:latin typeface="Calibri"/>
              </a:rPr>
              <a:t>Rdh16+ epithelial-like cells, Neural cells, Mesothelial cells, Epididymal cells (tentative), Lymphatic endothelial cells (tentative)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•  Independent validation: </a:t>
            </a:r>
            <a:r>
              <a:rPr sz="1300" b="0">
                <a:solidFill>
                  <a:srgbClr val="4A4A4A"/>
                </a:solidFill>
                <a:latin typeface="Calibri"/>
              </a:rPr>
              <a:t>embedding recomputed using each type's top 50 marker genes (608 genes total) still separates all 15 types cleanly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4A4A4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6B5E"/>
                </a:solidFill>
                <a:latin typeface="Calibr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A1A1A"/>
                </a:solidFill>
                <a:latin typeface="Calibri"/>
              </a:rPr>
              <a:t>Results: Validation Against PanSci's Labels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005840" cy="50800"/>
          </a:xfrm>
          <a:prstGeom prst="rect">
            <a:avLst/>
          </a:prstGeom>
          <a:solidFill>
            <a:srgbClr val="12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elltype_similarity_matrix_v2_diag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6475636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92024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 Clean diagonal </a:t>
            </a:r>
            <a:r>
              <a:rPr sz="1400" b="0">
                <a:solidFill>
                  <a:srgbClr val="4A4A4A"/>
                </a:solidFill>
                <a:latin typeface="Calibri"/>
              </a:rPr>
              <a:t>— our independent annotation converges with PanSci's own cell-type calls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 11 / 15 types </a:t>
            </a:r>
            <a:r>
              <a:rPr sz="1400" b="0">
                <a:solidFill>
                  <a:srgbClr val="4A4A4A"/>
                </a:solidFill>
                <a:latin typeface="Calibri"/>
              </a:rPr>
              <a:t>exceed 85% concordance with PanSci's original labels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 Remaining 4 </a:t>
            </a:r>
            <a:r>
              <a:rPr sz="1400" b="0">
                <a:solidFill>
                  <a:srgbClr val="4A4A4A"/>
                </a:solidFill>
                <a:latin typeface="Calibri"/>
              </a:rPr>
              <a:t>are genuinely rare populations, resolved via sub-clustering and documented as tentative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4A4A4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6B5E"/>
                </a:solidFill>
                <a:latin typeface="Calibr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1A1A"/>
                </a:solidFill>
                <a:latin typeface="Calibri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005840" cy="50800"/>
          </a:xfrm>
          <a:prstGeom prst="rect">
            <a:avLst/>
          </a:prstGeom>
          <a:solidFill>
            <a:srgbClr val="12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8813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554480"/>
                <a:gridCol w="7132320"/>
              </a:tblGrid>
              <a:tr h="9829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Concordance</a:t>
                      </a:r>
                    </a:p>
                  </a:txBody>
                  <a:tcPr anchor="ctr">
                    <a:solidFill>
                      <a:srgbClr val="126B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Match rate</a:t>
                      </a:r>
                    </a:p>
                  </a:txBody>
                  <a:tcPr anchor="ctr">
                    <a:solidFill>
                      <a:srgbClr val="126B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Cell types</a:t>
                      </a:r>
                    </a:p>
                  </a:txBody>
                  <a:tcPr anchor="ctr">
                    <a:solidFill>
                      <a:srgbClr val="126B5E"/>
                    </a:solidFill>
                  </a:tcPr>
                </a:tc>
              </a:tr>
              <a:tr h="98298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1A1A"/>
                          </a:solidFill>
                          <a:latin typeface="Calibri"/>
                        </a:rPr>
                        <a:t>≥ 95%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4A4A"/>
                          </a:solidFill>
                          <a:latin typeface="Calibri"/>
                        </a:rPr>
                        <a:t>97 – 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4A4A"/>
                          </a:solidFill>
                          <a:latin typeface="Calibri"/>
                        </a:rPr>
                        <a:t>T cells, Macrophages, Pericytes, Endothelial cells, Rdh16+ epithelial-like cells, Brown adipocytes, B cells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8298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1A1A"/>
                          </a:solidFill>
                          <a:latin typeface="Calibri"/>
                        </a:rPr>
                        <a:t>85 – 95%</a:t>
                      </a:r>
                    </a:p>
                  </a:txBody>
                  <a:tcPr anchor="ctr">
                    <a:solidFill>
                      <a:srgbClr val="F2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4A4A"/>
                          </a:solidFill>
                          <a:latin typeface="Calibri"/>
                        </a:rPr>
                        <a:t>87 – 95%</a:t>
                      </a:r>
                    </a:p>
                  </a:txBody>
                  <a:tcPr anchor="ctr">
                    <a:solidFill>
                      <a:srgbClr val="F2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4A4A"/>
                          </a:solidFill>
                          <a:latin typeface="Calibri"/>
                        </a:rPr>
                        <a:t>ASPCs, Neural cells, Mesothelial cells, Adipocytes</a:t>
                      </a:r>
                    </a:p>
                  </a:txBody>
                  <a:tcPr anchor="ctr">
                    <a:solidFill>
                      <a:srgbClr val="F2F3F3"/>
                    </a:solidFill>
                  </a:tcPr>
                </a:tc>
              </a:tr>
              <a:tr h="98298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1A1A"/>
                          </a:solidFill>
                          <a:latin typeface="Calibri"/>
                        </a:rPr>
                        <a:t>Rare / tentative</a:t>
                      </a:r>
                      <a:br/>
                      <a:r>
                        <a:t>(sub-clustering resolved)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4A4A"/>
                          </a:solidFill>
                          <a:latin typeface="Calibri"/>
                        </a:rPr>
                        <a:t>56 – 80%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4A4A"/>
                          </a:solidFill>
                          <a:latin typeface="Calibri"/>
                        </a:rPr>
                        <a:t>DCs, Skeletal muscle cells, Epididymal cells (tentative), Lymphatic endothelial cells (tentative)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4A4A4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6B5E"/>
                </a:solidFill>
                <a:latin typeface="Calibr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005840" cy="50800"/>
          </a:xfrm>
          <a:prstGeom prst="rect">
            <a:avLst/>
          </a:prstGeom>
          <a:solidFill>
            <a:srgbClr val="12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2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•  This talk: </a:t>
            </a:r>
            <a:r>
              <a:rPr sz="1800" b="0">
                <a:solidFill>
                  <a:srgbClr val="4A4A4A"/>
                </a:solidFill>
                <a:latin typeface="Calibri"/>
              </a:rPr>
              <a:t>building and validating the 3-month + 16-month WT aging atlas — cell-type annotation only</a:t>
            </a:r>
          </a:p>
          <a:p>
            <a:pPr>
              <a:lnSpc>
                <a:spcPct val="120000"/>
              </a:lnSpc>
              <a:spcAft>
                <a:spcPts val="22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•  Next: </a:t>
            </a:r>
            <a:r>
              <a:rPr sz="1800" b="0">
                <a:solidFill>
                  <a:srgbClr val="4A4A4A"/>
                </a:solidFill>
                <a:latin typeface="Calibri"/>
              </a:rPr>
              <a:t>poster presentation (10 minutes), building on this report together with the July 31 preprocessing-benchmark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4A4A4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12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A1A1A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